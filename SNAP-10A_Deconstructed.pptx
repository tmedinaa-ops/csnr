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Converter output (W)</c:v>
                </c:pt>
              </c:strCache>
            </c:strRef>
          </c:tx>
          <c:spPr>
            <a:solidFill>
              <a:srgbClr val="F5A623"/>
            </a:solidFill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8</c:v>
                  </c:pt>
                  <c:pt idx="2">
                    <c:v>16</c:v>
                  </c:pt>
                  <c:pt idx="3">
                    <c:v>24</c:v>
                  </c:pt>
                  <c:pt idx="4">
                    <c:v>32</c:v>
                  </c:pt>
                  <c:pt idx="5">
                    <c:v>40</c:v>
                  </c:pt>
                  <c:pt idx="6">
                    <c:v>43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582</c:v>
                </c:pt>
                <c:pt idx="1">
                  <c:v>560</c:v>
                </c:pt>
                <c:pt idx="2">
                  <c:v>548</c:v>
                </c:pt>
                <c:pt idx="3">
                  <c:v>536</c:v>
                </c:pt>
                <c:pt idx="4">
                  <c:v>524</c:v>
                </c:pt>
                <c:pt idx="5">
                  <c:v>512</c:v>
                </c:pt>
                <c:pt idx="6">
                  <c:v>508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8FB8D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8FB8DE"/>
                    </a:solidFill>
                    <a:latin typeface="Arial"/>
                  </a:rPr>
                  <a:t>Days at full power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2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480"/>
        </c:scaling>
        <c:delete val="0"/>
        <c:axPos val="l"/>
        <c:majorGridlines>
          <c:spPr>
            <a:ln w="6350" cap="flat">
              <a:solidFill>
                <a:srgbClr val="2E45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2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63F"/>
        </a:solidFill>
        <a:ln>
          <a:noFill/>
        </a:ln>
        <a:effectLst/>
      </c:spPr>
    </c:plotArea>
    <c:plotVisOnly val="1"/>
    <c:dispBlanksAs val="span"/>
  </c:chart>
  <c:spPr>
    <a:solidFill>
      <a:srgbClr val="16263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011680"/>
            <a:ext cx="8412480" cy="8412480"/>
          </a:xfrm>
          <a:prstGeom prst="ellipse">
            <a:avLst/>
          </a:prstGeom>
          <a:solidFill>
            <a:srgbClr val="16263F">
              <a:alpha val="45000"/>
            </a:srgbClr>
          </a:solidFill>
          <a:ln w="12700">
            <a:solidFill>
              <a:srgbClr val="1E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-640080"/>
            <a:ext cx="5486400" cy="5486400"/>
          </a:xfrm>
          <a:prstGeom prst="ellipse">
            <a:avLst/>
          </a:prstGeom>
          <a:solidFill>
            <a:srgbClr val="0B1426"/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966960" y="1005840"/>
            <a:ext cx="3657600" cy="3657600"/>
          </a:xfrm>
          <a:prstGeom prst="ellipse">
            <a:avLst/>
          </a:prstGeom>
          <a:solidFill>
            <a:srgbClr val="1E3354"/>
          </a:solidFill>
          <a:ln w="12700">
            <a:solidFill>
              <a:srgbClr val="2E45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20040"/>
            <a:ext cx="502920" cy="2926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411480"/>
            <a:ext cx="548640" cy="109728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411480"/>
            <a:ext cx="548640" cy="109728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650793  ·  ATOMICS INTERNATIONAL  ·  1965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SNAP-10A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8FB8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 Reactor in Space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deconstruction of the original flight paper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A. Johnson · W. T. Morgan · S. R. Rocklin   —   the world's first nuclear reactor flown in orbit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IN ONE SLIDE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reactor flew, worked, then a switch killed 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182880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352044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13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 We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77240" y="3136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output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(static thermoelectric conversion)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57400"/>
            <a:ext cx="3520440" cy="182880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57400"/>
            <a:ext cx="3520440" cy="82296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13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8FB8D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 days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617720" y="3136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 in orbit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 – May 16, 1965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2057400"/>
            <a:ext cx="3520440" cy="182880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057400"/>
            <a:ext cx="3520440" cy="82296"/>
          </a:xfrm>
          <a:prstGeom prst="rect">
            <a:avLst/>
          </a:prstGeom>
          <a:solidFill>
            <a:srgbClr val="57C08A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1343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57C0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458200" y="313639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faults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reactor never misbehaved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91672" cy="205740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251960"/>
            <a:ext cx="82296" cy="205740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7548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SNAP-10A was a compact fission reactor that turned 40 kW of heat directly into electricity with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moving parts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was launched cold from Vandenberg, started by remote command once in orbit, and ran exactly as designed for 43 days. It then shut down — </a:t>
            </a:r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 reactor failed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because a voltage regulator elsewhere on the spacecraft sent a spurious command that ejected the reflectors and killed the reaction.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Heat in, electricity out — directly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21945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286000"/>
            <a:ext cx="2468880" cy="8229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42032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ZrH core, 4.8 kg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U-235 (HEU)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8404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kWt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99232" y="292608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29000" y="2286000"/>
            <a:ext cx="2468880" cy="21945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2286000"/>
            <a:ext cx="2468880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2542032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NaK LOOP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93592" y="3063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Na-K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coolant, EM pump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93592" y="38404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1040 °F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879592" y="292608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2468880" cy="21945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286000"/>
            <a:ext cx="2468880" cy="82296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2542032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THERMOELECTRIC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73952" y="3063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2,880 SiGe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couples, no moving parts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38404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~1.4%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759952" y="2926080"/>
            <a:ext cx="448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›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9189720" y="2286000"/>
            <a:ext cx="2468880" cy="21945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89720" y="2286000"/>
            <a:ext cx="2468880" cy="82296"/>
          </a:xfrm>
          <a:prstGeom prst="rect">
            <a:avLst/>
          </a:prstGeom>
          <a:solidFill>
            <a:srgbClr val="57C08A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312" y="2542032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ELECTRICAL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54312" y="3063240"/>
            <a:ext cx="2139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 Agena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30 V dc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54312" y="3840480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7C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 We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heat radiates to space from the conical aluminum radiator (62.5 ft²).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22960" y="5349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mattered:  </a:t>
            </a:r>
            <a:pPr indent="0" marL="0">
              <a:buNone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prior idea for space power used spinning turbines or had moving fluid machinery to fail. SNAP-10A converted heat straight to current through a solid-state thermocouple stack — simple and long-lived, at the cost of brutal inefficiency (~1.4%).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parameters (Table 1)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67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POWER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 W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325112" y="2103120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210312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267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POWER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53712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 kWt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101584" y="2103120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2103120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2677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LIFE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30184" y="26060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year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3502152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502152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66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WEIGHT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0050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960 lb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325112" y="3502152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25112" y="3502152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4" name="Text 22"/>
          <p:cNvSpPr/>
          <p:nvPr/>
        </p:nvSpPr>
        <p:spPr>
          <a:xfrm>
            <a:off x="4553712" y="3666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LENGTH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53712" y="40050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137 in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8101584" y="3502152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01584" y="3502152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8330184" y="366674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DIAMETER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30184" y="4005072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 in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48640" y="4901184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4901184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0657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NAK TEMP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" y="54041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1040 °F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4325112" y="4901184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25112" y="4901184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50657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RADIATOR AREA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53712" y="54041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62.5 ft²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8101584" y="4901184"/>
            <a:ext cx="3611880" cy="12344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01584" y="4901184"/>
            <a:ext cx="64008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0" name="Text 38"/>
          <p:cNvSpPr/>
          <p:nvPr/>
        </p:nvSpPr>
        <p:spPr>
          <a:xfrm>
            <a:off x="8330184" y="506577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30184" y="5404104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4.8 kg U-235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Materials: titanium structure · 316/405 stainless liquid-metal system · aluminum radiators · 210-lb lithium-hydride shield.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pieces do the work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960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03120"/>
            <a:ext cx="502920" cy="9601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2221992"/>
            <a:ext cx="1017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— moderator + fuel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Zirconium-hydride (ZrH) moderator with 4.8 kg of fully enriched U-235 mixed in. Fuel rods clad in Hastelloy-N, packed in a 9-in × 16-in vessel.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1091672" cy="960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182112"/>
            <a:ext cx="502920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300984"/>
            <a:ext cx="1017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BERYLLIUM REFLECTOR + 4 DRUMS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639312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Surrounds the core; four semicylindrical control drums rotate to vary neutron leakage — the only way to start, trim, and stop the reactor.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61104"/>
            <a:ext cx="11091672" cy="960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261104"/>
            <a:ext cx="502920" cy="960120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379976"/>
            <a:ext cx="1017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NaK-78 COOLANT LOOP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718304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Eutectic sodium-potassium, liquid at operating temp, near-zero vapor pressure. Driven by a thermoelectric EM pump — again, no mechanical moving parts.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40096"/>
            <a:ext cx="11091672" cy="960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5340096"/>
            <a:ext cx="502920" cy="960120"/>
          </a:xfrm>
          <a:prstGeom prst="rect">
            <a:avLst/>
          </a:prstGeom>
          <a:solidFill>
            <a:srgbClr val="57C08A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458968"/>
            <a:ext cx="10177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LITHIUM-HYDRIDE SHIELD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797296"/>
            <a:ext cx="10131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210-lb LiH block below the reactor, ~5 orders of magnitude of fast-neutron attenuation, protecting the spacecraft electronics above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FLIGHT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43 days, start to silence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3520440"/>
            <a:ext cx="1033272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3401568"/>
            <a:ext cx="237744" cy="237744"/>
          </a:xfrm>
          <a:prstGeom prst="ellipse">
            <a:avLst/>
          </a:prstGeom>
          <a:solidFill>
            <a:srgbClr val="8FB8DE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94560"/>
            <a:ext cx="2240280" cy="10058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94560"/>
            <a:ext cx="2240280" cy="64008"/>
          </a:xfrm>
          <a:prstGeom prst="rect">
            <a:avLst/>
          </a:prstGeom>
          <a:solidFill>
            <a:srgbClr val="8FB8D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8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3, 1965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560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852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Atlas-Agena from Vandenberg, cold reactor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0" cy="320040"/>
          </a:xfrm>
          <a:prstGeom prst="line">
            <a:avLst/>
          </a:prstGeom>
          <a:noFill/>
          <a:ln w="12700">
            <a:solidFill>
              <a:srgbClr val="1E33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3401568"/>
            <a:ext cx="237744" cy="237744"/>
          </a:xfrm>
          <a:prstGeom prst="ellipse">
            <a:avLst/>
          </a:prstGeom>
          <a:solidFill>
            <a:srgbClr val="F5A623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3840480"/>
            <a:ext cx="2240280" cy="10058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37560" y="3840480"/>
            <a:ext cx="22402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950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+6.3 hr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206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44988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startup command, in orbit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20440" y="3520440"/>
            <a:ext cx="0" cy="320040"/>
          </a:xfrm>
          <a:prstGeom prst="line">
            <a:avLst/>
          </a:prstGeom>
          <a:noFill/>
          <a:ln w="12700">
            <a:solidFill>
              <a:srgbClr val="1E3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6168" y="3401568"/>
            <a:ext cx="237744" cy="237744"/>
          </a:xfrm>
          <a:prstGeom prst="ellipse">
            <a:avLst/>
          </a:prstGeom>
          <a:solidFill>
            <a:srgbClr val="FF7A1A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2194560"/>
            <a:ext cx="2240280" cy="10058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2160" y="2194560"/>
            <a:ext cx="2240280" cy="64008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+1.7 hr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2560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power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89320" y="2852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 1015 °F, ~560–660 We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035040" y="3200400"/>
            <a:ext cx="0" cy="320040"/>
          </a:xfrm>
          <a:prstGeom prst="line">
            <a:avLst/>
          </a:prstGeom>
          <a:noFill/>
          <a:ln w="12700">
            <a:solidFill>
              <a:srgbClr val="1E33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10728" y="3401568"/>
            <a:ext cx="237744" cy="237744"/>
          </a:xfrm>
          <a:prstGeom prst="ellipse">
            <a:avLst/>
          </a:prstGeom>
          <a:solidFill>
            <a:srgbClr val="57C08A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0" y="3840480"/>
            <a:ext cx="2240280" cy="10058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0" y="3840480"/>
            <a:ext cx="2240280" cy="64008"/>
          </a:xfrm>
          <a:prstGeom prst="rect">
            <a:avLst/>
          </a:prstGeom>
          <a:solidFill>
            <a:srgbClr val="57C08A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3950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C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days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83880" y="42062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Nominal run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44988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met/exceeded design in all respects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0" y="3520440"/>
            <a:ext cx="0" cy="320040"/>
          </a:xfrm>
          <a:prstGeom prst="line">
            <a:avLst/>
          </a:prstGeom>
          <a:noFill/>
          <a:ln w="12700">
            <a:solidFill>
              <a:srgbClr val="1E33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79608" y="3401568"/>
            <a:ext cx="237744" cy="237744"/>
          </a:xfrm>
          <a:prstGeom prst="ellipse">
            <a:avLst/>
          </a:prstGeom>
          <a:solidFill>
            <a:srgbClr val="E5544B"/>
          </a:solidFill>
          <a:ln w="25400">
            <a:solidFill>
              <a:srgbClr val="0B14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55480" y="2194560"/>
            <a:ext cx="2240280" cy="100584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555480" y="2194560"/>
            <a:ext cx="2240280" cy="64008"/>
          </a:xfrm>
          <a:prstGeom prst="rect">
            <a:avLst/>
          </a:prstGeom>
          <a:solidFill>
            <a:srgbClr val="E5544B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23042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4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16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92640" y="2560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Shutdown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692640" y="285292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on rev 555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698480" y="3200400"/>
            <a:ext cx="0" cy="320040"/>
          </a:xfrm>
          <a:prstGeom prst="line">
            <a:avLst/>
          </a:prstGeom>
          <a:noFill/>
          <a:ln w="12700">
            <a:solidFill>
              <a:srgbClr val="1E335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Orbit: ~695 × 705 nmi (~1,300 km) — high enough that it is still up there today.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worked — then slowly leaked away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89520" y="2148840"/>
            <a:ext cx="4050792" cy="40233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2148840"/>
            <a:ext cx="4050792" cy="8229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SLOW FADE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18120" y="2743200"/>
            <a:ext cx="3611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drifted down from ~582 W as </a:t>
            </a:r>
            <a:pPr indent="0" marL="0">
              <a:buNone/>
            </a:pPr>
            <a:r>
              <a:rPr lang="en-US" sz="1350" b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outgassed hydrocarbons</a:t>
            </a:r>
            <a:pPr indent="0" marL="0">
              <a:buNone/>
            </a:pPr>
            <a:r>
              <a:rPr lang="en-US" sz="13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baked onto the converter insulators, forming a conductive carbon film that leaked current to ground.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18120" y="4251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7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 W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818120" y="49377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loss by 90 days → ~470 W usable. A materials/cleanliness problem, not a reactor problem.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switch, not the atom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86400" cy="40233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5486400" cy="82296"/>
          </a:xfrm>
          <a:prstGeom prst="rect">
            <a:avLst/>
          </a:prstGeom>
          <a:solidFill>
            <a:srgbClr val="E5544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5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788920"/>
            <a:ext cx="365760" cy="3657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regulator in the Agena spacecraft fails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1560" y="3154680"/>
            <a:ext cx="0" cy="457200"/>
          </a:xfrm>
          <a:prstGeom prst="line">
            <a:avLst/>
          </a:prstGeom>
          <a:noFill/>
          <a:ln w="19050">
            <a:solidFill>
              <a:srgbClr val="1E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30168"/>
            <a:ext cx="365760" cy="3657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55701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command decoder issues a spurious command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3995928"/>
            <a:ext cx="0" cy="457200"/>
          </a:xfrm>
          <a:prstGeom prst="line">
            <a:avLst/>
          </a:prstGeom>
          <a:noFill/>
          <a:ln w="19050">
            <a:solidFill>
              <a:srgbClr val="1E33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71416"/>
            <a:ext cx="365760" cy="3657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71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3982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Reflector drums commanded off / ejected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4837176"/>
            <a:ext cx="0" cy="457200"/>
          </a:xfrm>
          <a:prstGeom prst="line">
            <a:avLst/>
          </a:prstGeom>
          <a:noFill/>
          <a:ln w="19050">
            <a:solidFill>
              <a:srgbClr val="1E33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312664"/>
            <a:ext cx="365760" cy="365760"/>
          </a:xfrm>
          <a:prstGeom prst="ellipse">
            <a:avLst/>
          </a:prstGeom>
          <a:solidFill>
            <a:srgbClr val="E5544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312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523951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Reactor loses reactivity — electrical power to zero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2148840"/>
            <a:ext cx="5376672" cy="1874520"/>
          </a:xfrm>
          <a:prstGeom prst="rect">
            <a:avLst/>
          </a:prstGeom>
          <a:solidFill>
            <a:srgbClr val="1E335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REACTOR WAS FINE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26974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Post-failure analysis (LMSC-A764749 / NAA-SR-MEMO-11635) pinned the shutdown on the regulator. The reactor met or exceeded every requirement during operation.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63640" y="4206240"/>
            <a:ext cx="5376672" cy="196596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4206240"/>
            <a:ext cx="5376672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GROUND TWIN, FS-3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7548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hours</a:t>
            </a:r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operation to March 1966 — the </a:t>
            </a:r>
            <a:pPr indent="0" marL="0">
              <a:buNone/>
            </a:pPr>
            <a:r>
              <a:rPr lang="en-US" sz="1400" b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continuous run of any reactor then known.</a:t>
            </a:r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design's endurance was never in doubt; the spacecraft around it was the weak link.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4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EF4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flight proved — and left open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440680" cy="3246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5440680" cy="82296"/>
          </a:xfrm>
          <a:prstGeom prst="rect">
            <a:avLst/>
          </a:prstGeom>
          <a:solidFill>
            <a:srgbClr val="57C0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7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PROVED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nuclear reactor ever operated in orbit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in-orbit startup works without a crew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(no-moving-part) conversion is viable in space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Shielding calcs validated; electronics survived the dose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99632" y="2148840"/>
            <a:ext cx="5440680" cy="3246120"/>
          </a:xfrm>
          <a:prstGeom prst="rect">
            <a:avLst/>
          </a:prstGeom>
          <a:solidFill>
            <a:srgbClr val="16263F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99632" y="2148840"/>
            <a:ext cx="5440680" cy="82296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28232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LEFT OPEN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19672" y="274320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efficiency was punishing (~1.4%)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by ordinary spacecraft electronics, not the core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controlled end-of-life disposal — still in orbit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—"/>
            </a:pPr>
            <a:r>
              <a:rPr lang="en-US" sz="145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HEU — a non-starter under today's policy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11091672" cy="868680"/>
          </a:xfrm>
          <a:prstGeom prst="rect">
            <a:avLst/>
          </a:prstGeom>
          <a:solidFill>
            <a:srgbClr val="1E3354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5577840"/>
            <a:ext cx="82296" cy="868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669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NSPM-20 angle:  </a:t>
            </a:r>
            <a:pPr indent="0" marL="0">
              <a:buNone/>
            </a:pPr>
            <a:r>
              <a:rPr lang="en-US" sz="1400" dirty="0">
                <a:solidFill>
                  <a:srgbClr val="EEF4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SNAP-10A is the proof that launch-cold, in-orbit-startup reactors work — its real legacy — but its lack of a reliable disposal scheme is exactly the gap modern launch-authorization rules now force you to close.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SNAP-10A — A Visual Deconstruction</dc:title>
  <dc:subject>PptxGenJS Presentation</dc:subject>
  <dc:creator>Tomas Medina</dc:creator>
  <cp:lastModifiedBy>Tomas Medina</cp:lastModifiedBy>
  <cp:revision>1</cp:revision>
  <dcterms:created xsi:type="dcterms:W3CDTF">2026-06-01T18:00:20Z</dcterms:created>
  <dcterms:modified xsi:type="dcterms:W3CDTF">2026-06-01T18:00:20Z</dcterms:modified>
</cp:coreProperties>
</file>